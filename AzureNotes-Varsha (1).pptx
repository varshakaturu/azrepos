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4C72BA-5FA5-4682-A077-3C2EAC136C55}">
  <a:tblStyle styleId="{5D4C72BA-5FA5-4682-A077-3C2EAC136C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6C8BFD7-0F7C-4270-AD7A-5A22B6E2C9C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0a16e566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0a16e566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b24fb05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b24fb0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b24fb05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b24fb05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b24fb053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b24fb053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facbe947c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facbe947c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2afc1c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2afc1c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d2afc1cc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d2afc1cc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d2afc1cc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d2afc1cc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6c9c9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e6c9c9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acbe947c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acbe947c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f7e42c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f7e42c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fffdc7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afffdc7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202c446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b202c446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fffdc73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afffdc73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fffdc73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fffdc7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41182bc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41182bc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2a6640f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2a6640f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afffdc7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afffdc7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2a6640f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2a6640f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348ad4605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2348ad4605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2a6640fe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2a6640fe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2a6640fe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2a6640fe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acbe947c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acbe947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348ad460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348ad460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acbe947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acbe947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acbe947c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acbe947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acbe947c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acbe947c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acbe947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acbe947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acbe947c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facbe947c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facbe947c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facbe947c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acbe947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acbe947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acbe947c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acbe947c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acbe947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acbe947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acbe947c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acbe947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acbe947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facbe947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acbe947c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acbe947c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acbe947c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acbe947c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acbe947c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facbe947c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acbe947c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facbe947c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acbe947c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facbe947c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acbe947c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acbe947c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acbe947c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facbe947c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facbe947c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facbe947c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acbe947c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facbe947c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facbe947c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facbe947c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acbe947c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facbe947c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acbe947c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acbe947c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348ad4605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2348ad4605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559b8fb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559b8fb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afffdc73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afffdc73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afffdc73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afffdc73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afffdc73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afffdc7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afffdc73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afffdc73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afffdc73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afffdc73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afffdc7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afffdc7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afffdc73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afffdc73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afffdc73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afffdc73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afffdc73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afffdc73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afffdc73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afffdc73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afffdc73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afffdc73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afffdc73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afffdc73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afffdc73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afffdc73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afffdc73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afffdc73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afffdc73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afffdc73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afffdc73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aafffdc73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hGaEMiQopOQ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.com/alfonsof/terraform-azure-examples/tree/master/code/05-cluster-webserver" TargetMode="External"/><Relationship Id="rId4" Type="http://schemas.openxmlformats.org/officeDocument/2006/relationships/hyperlink" Target="https://github.com/Azure-Terraform/terraform-azurerm-virtual-machine/blob/main/main.tf" TargetMode="External"/><Relationship Id="rId5" Type="http://schemas.openxmlformats.org/officeDocument/2006/relationships/hyperlink" Target="https://github.com/jakewalsh90/Terraform-Azure/tree/main/Azure-Firewall-DemoLab" TargetMode="External"/><Relationship Id="rId6" Type="http://schemas.openxmlformats.org/officeDocument/2006/relationships/hyperlink" Target="https://github.com/andreipintica/Azure-Terraform-Scripts/blob/master/main.tf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digitalocean.com/community/tutorials/how-to-install-and-configure-ansible-on-ubuntu-20-04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hp_CBWMjeeguBM0X5MYA7cUd951jhGxO520KLAf@github.com/jayasimhagit/SPFRepo.git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mailto:jayasimha.xyz@gmail.com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learn.microsoft.com/en-us/azure/cost-management-billing/reservations/save-compute-costs-reservations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spot.io/resources/azure-pricing/azure-vm-pricing-vm-types-pricing-models-and-examples/" TargetMode="External"/><Relationship Id="rId4" Type="http://schemas.openxmlformats.org/officeDocument/2006/relationships/hyperlink" Target="https://www.thomasmaurer.ch/2020/01/how-to-reduce-the-costs-of-your-azure-iaas-vms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learn.microsoft.com/en-us/azure/reliability/availability-zones-overview?tabs=azure-cli" TargetMode="External"/><Relationship Id="rId4" Type="http://schemas.openxmlformats.org/officeDocument/2006/relationships/image" Target="../media/image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youtube.com/watch?v=wq_sn9ey4KM" TargetMode="External"/><Relationship Id="rId11" Type="http://schemas.openxmlformats.org/officeDocument/2006/relationships/hyperlink" Target="https://www.youtube.com/watch?v=Rz5_oJD0Jso" TargetMode="External"/><Relationship Id="rId10" Type="http://schemas.openxmlformats.org/officeDocument/2006/relationships/hyperlink" Target="https://www.youtube.com/watch?v=MTzURXtXQWY" TargetMode="External"/><Relationship Id="rId13" Type="http://schemas.openxmlformats.org/officeDocument/2006/relationships/hyperlink" Target="https://www.youtube.com/watch?v=IojgArLK8zM" TargetMode="External"/><Relationship Id="rId12" Type="http://schemas.openxmlformats.org/officeDocument/2006/relationships/hyperlink" Target="https://www.youtube.com/watch?v=6S9UdBupFsA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youtube.com/watch?v=_Qq3HO5l3ko" TargetMode="External"/><Relationship Id="rId4" Type="http://schemas.openxmlformats.org/officeDocument/2006/relationships/hyperlink" Target="https://www.youtube.com/watch?v=Idc6dk_dVbU" TargetMode="External"/><Relationship Id="rId9" Type="http://schemas.openxmlformats.org/officeDocument/2006/relationships/hyperlink" Target="https://www.youtube.com/watch?v=_sDbdl2yxx8" TargetMode="External"/><Relationship Id="rId15" Type="http://schemas.openxmlformats.org/officeDocument/2006/relationships/hyperlink" Target="https://www.youtube.com/watch?v=x6JXqDKRjos" TargetMode="External"/><Relationship Id="rId14" Type="http://schemas.openxmlformats.org/officeDocument/2006/relationships/hyperlink" Target="https://www.youtube.com/watch?v=MNN9M11FODI" TargetMode="External"/><Relationship Id="rId17" Type="http://schemas.openxmlformats.org/officeDocument/2006/relationships/hyperlink" Target="https://www.youtube.com/watch?v=rRwLB7sEP1o" TargetMode="External"/><Relationship Id="rId16" Type="http://schemas.openxmlformats.org/officeDocument/2006/relationships/hyperlink" Target="https://www.youtube.com/watch?v=yqHbuzt0FhY" TargetMode="External"/><Relationship Id="rId5" Type="http://schemas.openxmlformats.org/officeDocument/2006/relationships/hyperlink" Target="https://www.youtube.com/watch?v=4DrOA01mrN4" TargetMode="External"/><Relationship Id="rId19" Type="http://schemas.openxmlformats.org/officeDocument/2006/relationships/hyperlink" Target="https://learn.microsoft.com/en-us/azure/azure-resource-manager/bicep/overview?tabs=bicep" TargetMode="External"/><Relationship Id="rId6" Type="http://schemas.openxmlformats.org/officeDocument/2006/relationships/hyperlink" Target="https://www.youtube.com/watch?v=4DrOA01mrN4" TargetMode="External"/><Relationship Id="rId18" Type="http://schemas.openxmlformats.org/officeDocument/2006/relationships/hyperlink" Target="https://www.youtube.com/watch?v=1ltK_3pahuE" TargetMode="External"/><Relationship Id="rId7" Type="http://schemas.openxmlformats.org/officeDocument/2006/relationships/hyperlink" Target="https://www.youtube.com/watch?v=4DrOA01mrN4" TargetMode="External"/><Relationship Id="rId8" Type="http://schemas.openxmlformats.org/officeDocument/2006/relationships/hyperlink" Target="https://www.youtube.com/watch?v=x_7X4Vs1V8w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74775" y="385775"/>
            <a:ext cx="82212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highlight>
                  <a:schemeClr val="accent6"/>
                </a:highlight>
              </a:rPr>
              <a:t>Final Go thru for this week</a:t>
            </a:r>
            <a:endParaRPr b="1" sz="1500">
              <a:solidFill>
                <a:schemeClr val="dk2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-&gt; Portal navigate and create as per UC1 &amp; UC2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 -&gt; terraform: hands-on  as per UC1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VNet, subnet, firewall, app gateway, WAF (Web app Fw)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VM Build thru terraform &amp; Portal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Go thru more features of VM incl disks, monitoring, logs, dashboard, healthchesks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 -&gt; DevOps navigated, must revise YAML file and CI/CD  as per UC3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Repos, </a:t>
            </a:r>
            <a:r>
              <a:rPr b="1" lang="en" sz="1300">
                <a:solidFill>
                  <a:schemeClr val="dk2"/>
                </a:solidFill>
              </a:rPr>
              <a:t>Pipelines</a:t>
            </a:r>
            <a:r>
              <a:rPr b="1" lang="en" sz="1300">
                <a:solidFill>
                  <a:schemeClr val="dk2"/>
                </a:solidFill>
              </a:rPr>
              <a:t>, Tests &amp; </a:t>
            </a:r>
            <a:r>
              <a:rPr b="1" lang="en" sz="1300">
                <a:solidFill>
                  <a:schemeClr val="dk2"/>
                </a:solidFill>
              </a:rPr>
              <a:t>Artifacts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Create and test repo in git and push/pull to azure portal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Create pipeline / yaml and run the code to deploy IaC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End result - Create VM using Terraform with Pipelines [Code in pipeline]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 -&gt;Portal Navigation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Create db &amp; access from SSMS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	Create and manage db under single server(s)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-&gt; Hands on Linux with commands practice and hardening with commands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-&gt; Hands on </a:t>
            </a:r>
            <a:r>
              <a:rPr b="1" lang="en" sz="1300">
                <a:solidFill>
                  <a:schemeClr val="dk2"/>
                </a:solidFill>
              </a:rPr>
              <a:t>Windows</a:t>
            </a:r>
            <a:r>
              <a:rPr b="1" lang="en" sz="1300">
                <a:solidFill>
                  <a:schemeClr val="dk2"/>
                </a:solidFill>
              </a:rPr>
              <a:t> 2026 Server with Domain creation and server admin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-&gt;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76175" y="153300"/>
            <a:ext cx="75114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Azure Cloud Portal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Compute  [VM, VMSS, Images, ssh keys, Wind &amp; Linux VMs ]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Networking [Vnet, subnet, AGW, FW, Bastions, Pub IP/Priv IP, vpc peering, LB]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Storage [Storage Accts, Disks, 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IAM / Security - Azure Entra ID, Users, Grps, Subscrs, Mgmt Grps, Tenant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DevOps Org 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Database - [</a:t>
            </a:r>
            <a:r>
              <a:rPr b="1" lang="en" sz="1300">
                <a:solidFill>
                  <a:schemeClr val="dk2"/>
                </a:solidFill>
                <a:highlight>
                  <a:srgbClr val="FFFF00"/>
                </a:highlight>
              </a:rPr>
              <a:t>Azure Database, SQL Server with Windows OS,</a:t>
            </a:r>
            <a:r>
              <a:rPr lang="en" sz="1300">
                <a:solidFill>
                  <a:schemeClr val="dk2"/>
                </a:solidFill>
              </a:rPr>
              <a:t> MySql, Postgres SQL,  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Access Azure db from Client using SSMS (Sql Server Mgmt Studio]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Create DB, Manage DB, Backup DB&lt; etc,.</a:t>
            </a:r>
            <a:endParaRPr sz="1300">
              <a:solidFill>
                <a:schemeClr val="dk2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Create Tables, Views, Seq, and SQL Queries [Select, delete, update] = Create, Delete, Drtop, truncate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	DB hands on in VM with SSMS and other db tools,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		Access db and do above hands on practices of sql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15"/>
          <p:cNvGraphicFramePr/>
          <p:nvPr/>
        </p:nvGraphicFramePr>
        <p:xfrm>
          <a:off x="104400" y="52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2276575"/>
                <a:gridCol w="2276575"/>
                <a:gridCol w="2276575"/>
                <a:gridCol w="770250"/>
              </a:tblGrid>
              <a:tr h="573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Resources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6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Compute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VMs - Windows  &amp; Linux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Images, Instance types,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Bastions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 2 Win VMs &amp; 2 Lin VMs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1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Storage:  SG &amp; Disks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Storage acct: Purpose &amp; types of storage accounts,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 &amp; Attach disks, types of Storage volumes, (eg. HDD, SDD.)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Networking: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   Private Links, DNS - Adv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VNet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Subnet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ALB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NLB, NSG, Route Tables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NAT GW, NIC, VNet Peering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 3 Vnets, each 3 Subnets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Database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Azure SQL Database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SQL Server on Azure VM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 2 databases with 1 server [ASD]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Access thru SSMS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94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Azure DevOps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DevOps Org -&gt; Project-&gt; ADO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Repos, - Azure Repos &amp; Git Repos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Pipelines - Yaml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Artifacts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5" name="Google Shape;65;p15"/>
          <p:cNvSpPr txBox="1"/>
          <p:nvPr/>
        </p:nvSpPr>
        <p:spPr>
          <a:xfrm>
            <a:off x="46825" y="0"/>
            <a:ext cx="28566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Date : </a:t>
            </a:r>
            <a:r>
              <a:rPr b="1" lang="en" sz="1300">
                <a:solidFill>
                  <a:schemeClr val="dk2"/>
                </a:solidFill>
              </a:rPr>
              <a:t>Week 1 of March 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oogle Shape;70;p16"/>
          <p:cNvGraphicFramePr/>
          <p:nvPr/>
        </p:nvGraphicFramePr>
        <p:xfrm>
          <a:off x="130275" y="67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2328250"/>
                <a:gridCol w="2328250"/>
                <a:gridCol w="2328250"/>
                <a:gridCol w="2328250"/>
              </a:tblGrid>
              <a:tr h="60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9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Security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Firewall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ASG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WAF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86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App Services 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 webapp &amp; Webapp+DB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87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Function App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Create Function App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69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Subscriptions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Tenants,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Mgmt Grps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Subscrs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6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474775" y="385775"/>
            <a:ext cx="7530600" cy="4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Week-01 of March  5th &amp; 6th Slides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graphicFrame>
        <p:nvGraphicFramePr>
          <p:cNvPr id="76" name="Google Shape;76;p17"/>
          <p:cNvGraphicFramePr/>
          <p:nvPr/>
        </p:nvGraphicFramePr>
        <p:xfrm>
          <a:off x="1069400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Category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Sub Category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Status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update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Az App &amp; Func service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12/Feb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AKS &amp; Container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Intro &amp; Create sample services. - 30 min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13/Feb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Az Firewall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12/Feb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Cost Mgmt &amp; Billing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 min / recap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13/Feb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Bastion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Hands-on Done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All Known Services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All Review with Varsha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To do - 30 min  /Night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13th Feb 1 Session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8"/>
          <p:cNvGraphicFramePr/>
          <p:nvPr/>
        </p:nvGraphicFramePr>
        <p:xfrm>
          <a:off x="710350" y="2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2571650"/>
                <a:gridCol w="2571650"/>
                <a:gridCol w="2571650"/>
              </a:tblGrid>
              <a:tr h="51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 Update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7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Compute &amp; General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VM, VMSS, Images, Types of VMs [B1,A1 etc.,], Regions, AZs, Subscr types, Mgmt Grps, Bastion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E0 - At present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E1 - Target by End of Feb’26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Networking &amp; Security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12-Feb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VNet, Subnet, </a:t>
                      </a:r>
                      <a:r>
                        <a:rPr b="1" lang="en" sz="900">
                          <a:highlight>
                            <a:srgbClr val="FFFF00"/>
                          </a:highlight>
                        </a:rPr>
                        <a:t>App GW, NSG, LB, ExpressRoute, Peering, &amp; Firewall</a:t>
                      </a:r>
                      <a:endParaRPr b="1" sz="900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highlight>
                            <a:srgbClr val="FFFF00"/>
                          </a:highlight>
                        </a:rPr>
                        <a:t>VNet peering </a:t>
                      </a:r>
                      <a:endParaRPr b="1" sz="900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highlight>
                            <a:srgbClr val="FFFF00"/>
                          </a:highlight>
                        </a:rPr>
                        <a:t>VNet1 - LBRCE F1 - 1st yr 10.1.0.0/15</a:t>
                      </a:r>
                      <a:endParaRPr b="1" sz="900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highlight>
                            <a:srgbClr val="FFFF00"/>
                          </a:highlight>
                        </a:rPr>
                        <a:t>VNet2 - LBRCE F2 - 2ndyr 10.2.0.0/15</a:t>
                      </a:r>
                      <a:endParaRPr b="1"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E0 - Vnet &amp; Subnet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Others to Complete 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Database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a)Azure SQL Database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b)SQL Server on VM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c)MySQL - Basics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E0 - At Present 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 further required.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DevOps </a:t>
                      </a:r>
                      <a:r>
                        <a:rPr b="1" lang="en" sz="900">
                          <a:highlight>
                            <a:srgbClr val="FFFF00"/>
                          </a:highlight>
                        </a:rPr>
                        <a:t>[Recap, for CI/CD, Pipeline Build, Git Connect repo &amp; Yaml file]</a:t>
                      </a:r>
                      <a:endParaRPr b="1"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CI/CD, Devops Org, Git, Yaml file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E0 - InProgress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IAM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Azure Entra ID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E0 - Yet to Start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10350" y="2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Pending Area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Update/ FInal date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InProgress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14/Feb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Linkedin Update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14/Feb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Mock Interview Prep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16/Feb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References </a:t>
                      </a:r>
                      <a:r>
                        <a:rPr lang="en"/>
                        <a:t>Follow Up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20/Feb Onwards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/>
        </p:nvSpPr>
        <p:spPr>
          <a:xfrm>
            <a:off x="474775" y="385775"/>
            <a:ext cx="7530600" cy="4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Doubts or Clarifications Needed: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Compute &gt; how, what, when.. -&gt; VM, VMSS, image, automation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Storage -&gt; Stg acct, BLOB, Az Fles,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Networking &amp; Security -&gt; Vnet, Subet, App GW, IGW, NSG, Firewall,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Database -&gt; Az SQL DB, SQL Srv with Windows OS.. Use SSMS tool to access DB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DevOps -&gt; Dashboards, Repos, Pipelines, Artifacts [Repo -&gt; Az Repo, Git Repo etc.,]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IaC -&gt; Terraform ? How, when , why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Tools &gt; Bastion, WAC (Wind Admin Center), Terraform, SSMS,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Services Common: App / web Services, Func App services, Container Apps, Kubernetes serv.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General  =&gt; Cost Mgmt, Subscr Models, Mgmt Grps, Tenants, Billing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FinOps -&gt; Cost Optimization, Resource optimization or utilization / </a:t>
            </a:r>
            <a:r>
              <a:rPr b="1" lang="en" sz="1300">
                <a:solidFill>
                  <a:schemeClr val="dk2"/>
                </a:solidFill>
              </a:rPr>
              <a:t>availability</a:t>
            </a:r>
            <a:r>
              <a:rPr b="1" lang="en" sz="1300">
                <a:solidFill>
                  <a:schemeClr val="dk2"/>
                </a:solidFill>
              </a:rPr>
              <a:t> etc.,  identifying </a:t>
            </a:r>
            <a:r>
              <a:rPr b="1" lang="en" sz="1300">
                <a:solidFill>
                  <a:schemeClr val="dk2"/>
                </a:solidFill>
              </a:rPr>
              <a:t>zombie/orphan</a:t>
            </a:r>
            <a:r>
              <a:rPr b="1" lang="en" sz="1300">
                <a:solidFill>
                  <a:schemeClr val="dk2"/>
                </a:solidFill>
              </a:rPr>
              <a:t> resources,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Varsha comments: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474775" y="385775"/>
            <a:ext cx="7530600" cy="4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Technology Stack: Prep for Varsha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OS - Windows Servers administration [Domain Controller, DNS, managingUsers &amp; Groups etc.,]  &amp; Linux [CentOS, Ubuntu, RHEL] - Build / spinup/ create virtual machine with Windows Server &amp; Linux (Ubuntu) in Amazon Cloud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Cloud Platforms - Azure [Microsoft]. AWS [Amazon]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Tools - Terraformn [IaC], GitHub / Git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Technology - Databases &amp; Networking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/>
        </p:nvSpPr>
        <p:spPr>
          <a:xfrm>
            <a:off x="1019700" y="315000"/>
            <a:ext cx="7667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Azure Portal - Review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Categories: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Compute - OS(Windows &amp; Linux) IaaS with IaC Terraform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DevOps - Basic devops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Network - Basic networking VNet, Subnet, AppGateway etc.,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Operations -&gt; Monitoring, Storage, IAM, Security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7935200" y="4138725"/>
            <a:ext cx="1208800" cy="666050"/>
          </a:xfrm>
          <a:prstGeom prst="flowChartPunched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-1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/>
        </p:nvSpPr>
        <p:spPr>
          <a:xfrm>
            <a:off x="581050" y="243050"/>
            <a:ext cx="7731000" cy="4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Day 01 Notes: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Platform / Operations Systems - Microsoft Windows  and Linux [Ubuntu, RedHat, Suse, Debian etc.,]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Physical Hardware PCs- Laptops, desktop,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Virtual PCs / Virtual Machines - To create VMs in Public Cloud environments like Azure &amp; AWS Portal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WIndows Types - Desktop OS’s  &amp; Servers OS 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Windows 10, 11 - Desktop OS for personal Laptops or Desktops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Windows 2019, 2022, - Server OS for Servers in the Organizations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Linux Servers are for deploying </a:t>
            </a:r>
            <a:r>
              <a:rPr lang="en" sz="900">
                <a:solidFill>
                  <a:schemeClr val="dk2"/>
                </a:solidFill>
              </a:rPr>
              <a:t>Applications</a:t>
            </a:r>
            <a:r>
              <a:rPr lang="en" sz="900">
                <a:solidFill>
                  <a:schemeClr val="dk2"/>
                </a:solidFill>
              </a:rPr>
              <a:t>, Databases etc., and also used for various Server Operations.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-Log into AWS Portal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-Go to Dashboard &amp; Select Compute </a:t>
            </a:r>
            <a:r>
              <a:rPr lang="en" sz="900">
                <a:solidFill>
                  <a:schemeClr val="dk2"/>
                </a:solidFill>
              </a:rPr>
              <a:t>category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-Press ‘Lanuch Instance’ and select Windows OS Image 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-Select Keypair - RSA for Windows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-Ensure instance type t1.micro / t2.micro etc.,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-Ensure VPC &amp; Subnet and Public IP created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-Click on Launch Instance to create virtual machine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650775" y="266575"/>
            <a:ext cx="77310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Day 02 Notes: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13" name="Google Shape;113;p24"/>
          <p:cNvGraphicFramePr/>
          <p:nvPr/>
        </p:nvGraphicFramePr>
        <p:xfrm>
          <a:off x="395825" y="69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Azure Cloud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AWS Cloud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EC2 (ecc)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Storage Acct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1" type="subTitle"/>
          </p:nvPr>
        </p:nvSpPr>
        <p:spPr>
          <a:xfrm>
            <a:off x="311700" y="602750"/>
            <a:ext cx="8520600" cy="22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Day - 03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/>
              <a:t>Download Putty.exe &amp; Connect Ubuntu linux vm.. Login with userlinux @ password - Vijayawadad@12</a:t>
            </a:r>
            <a:endParaRPr sz="3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/>
              <a:t>    </a:t>
            </a:r>
            <a:endParaRPr sz="3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2"/>
              <a:t>AWS CLI - Install &amp; Configure - Installed 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2"/>
              <a:t>Azure CLI - Commands Practice - Installed 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2"/>
              <a:t>Azure VMScaleSet - Create VMSS &amp; verify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2"/>
              <a:t>Azure Vnet -&gt; public IP, Private IP, explanation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2"/>
              <a:t>Azure Database - Create SQL Database &amp; Connect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82"/>
              <a:t>	Install SSMS in Windows VM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523"/>
              <a:buFont typeface="Arial"/>
              <a:buNone/>
            </a:pPr>
            <a:r>
              <a:rPr lang="en" sz="3382"/>
              <a:t>Azure DevOps  - Create Org, Project, and overview navigation of DevOps Organization </a:t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8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26"/>
          <p:cNvGraphicFramePr/>
          <p:nvPr/>
        </p:nvGraphicFramePr>
        <p:xfrm>
          <a:off x="301700" y="15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Compute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VM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App service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Ssh Keys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Images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Networking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VNET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Subnet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Firewall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Bastion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pubip/route table, gateways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Storage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Database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Security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DevOps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/>
        </p:nvSpPr>
        <p:spPr>
          <a:xfrm>
            <a:off x="462600" y="188175"/>
            <a:ext cx="5739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azure Portal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Create -&gt; RG - Done.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Create -&gt; Vnet, Subnet, Security Grp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Creat e-&gt; Storage Account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https://www.youtube.com/watch?v=hGaEMiQopOQ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2187550" y="2509025"/>
            <a:ext cx="713400" cy="823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3536150" y="3167650"/>
            <a:ext cx="549000" cy="11211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5355200" y="2830500"/>
            <a:ext cx="987900" cy="6195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</a:t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2187550" y="3450000"/>
            <a:ext cx="713400" cy="823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4124200" y="3504800"/>
            <a:ext cx="1842600" cy="885900"/>
          </a:xfrm>
          <a:prstGeom prst="leftUpArrow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/>
        </p:nvSpPr>
        <p:spPr>
          <a:xfrm>
            <a:off x="337125" y="752700"/>
            <a:ext cx="8028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Azure DB: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Create new DB Instance and DB server and connect thru SSMS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Create new SQL VM with Windows OS Server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	This scenario, SQL DB Installed on Windows 2022 Servers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		No need to install SQL Server separately..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Azure Devops: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Go to Azure Devops Portal [Devops Organizations]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Create New Org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	Create New Proj &amp; type of Proj	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		Consists of ADO boards, Repos, Pipelines, &amp; Artifacts.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At Boards level knowing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New tasks, assign, resolve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At Repos level 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Create new repo, export repo, Git 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9" name="Google Shape;139;p28"/>
          <p:cNvSpPr txBox="1"/>
          <p:nvPr/>
        </p:nvSpPr>
        <p:spPr>
          <a:xfrm>
            <a:off x="282275" y="156825"/>
            <a:ext cx="18660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Day 06 - 2/Jan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/>
        </p:nvSpPr>
        <p:spPr>
          <a:xfrm>
            <a:off x="337125" y="752700"/>
            <a:ext cx="80289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MS SQL Server 2019 on Windows 2022 Server -&gt; 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In this VM, SQL Server already installed (pre-installed) with Enterprise / Std Edition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Open SSMS &amp; Connect to DB using OS credentials. 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Create DB, Manage DB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	Create Tables etc., 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Create Users, Manage Users. Etc.,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SQL Query Window &amp; using commands, can create DB Schemas [Tables, views, sequence, synonym etc.,).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DDL - Data Definition lang - Create, Alter, Drop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DMS - Data Manipulation Lang - Select, Insert, update, Delete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DCL - Data Control Lang - Commit &amp; Roll back.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SQL - Stru Query Lang [Its a common lang for all RDBMS]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RDBMS ? - SQL Server, Mysql, Postgresql, Oracle, Sybase, DB2, [SQL]</a:t>
            </a:r>
            <a:endParaRPr sz="15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	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282275" y="156825"/>
            <a:ext cx="18660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Day 07 - 6/Jan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/>
        </p:nvSpPr>
        <p:spPr>
          <a:xfrm>
            <a:off x="1003600" y="689975"/>
            <a:ext cx="65079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Azure Portal -&gt; Username &amp; Pwd for microsoft account - Done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Create a subscription with valid debit card or credit card -&gt; done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New Subscription is created -&gt;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create any resources need RG -&gt; Done.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Then, create </a:t>
            </a:r>
            <a:r>
              <a:rPr lang="en" sz="1800">
                <a:solidFill>
                  <a:schemeClr val="dk2"/>
                </a:solidFill>
              </a:rPr>
              <a:t>resources</a:t>
            </a:r>
            <a:r>
              <a:rPr lang="en" sz="1800">
                <a:solidFill>
                  <a:schemeClr val="dk2"/>
                </a:solidFill>
              </a:rPr>
              <a:t> like Vm, storage, netowrking etc.,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31"/>
          <p:cNvGraphicFramePr/>
          <p:nvPr/>
        </p:nvGraphicFramePr>
        <p:xfrm>
          <a:off x="317600" y="39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2817500"/>
                <a:gridCol w="2817500"/>
                <a:gridCol w="281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Compute &amp; General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VM, VMScaleSet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Function App &amp; App Services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Azure DB, SQL on 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AKS (Kubernetes) &amp; Containers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Networking &amp; Secu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VNet, Subnet, Firewall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Bastion - NW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Disks, Storage Accts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NSG - Network Secu Grp - NW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6" name="Google Shape;156;p31"/>
          <p:cNvGraphicFramePr/>
          <p:nvPr/>
        </p:nvGraphicFramePr>
        <p:xfrm>
          <a:off x="317600" y="269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Azure DevOps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DevOps Org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IAM - Identity &amp; Access Management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Entra ID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1019700" y="315000"/>
            <a:ext cx="766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Links for Videos: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62" name="Google Shape;162;p32"/>
          <p:cNvSpPr/>
          <p:nvPr/>
        </p:nvSpPr>
        <p:spPr>
          <a:xfrm>
            <a:off x="7935200" y="4138725"/>
            <a:ext cx="1208800" cy="666050"/>
          </a:xfrm>
          <a:prstGeom prst="flowChartPunched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-1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/>
        </p:nvSpPr>
        <p:spPr>
          <a:xfrm>
            <a:off x="1019700" y="315000"/>
            <a:ext cx="766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Tasks to be performed: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-Create 1 Vnet 2 subnets and attach new vnet to new VM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68" name="Google Shape;168;p33"/>
          <p:cNvSpPr/>
          <p:nvPr/>
        </p:nvSpPr>
        <p:spPr>
          <a:xfrm>
            <a:off x="7935200" y="4138725"/>
            <a:ext cx="1208800" cy="666050"/>
          </a:xfrm>
          <a:prstGeom prst="flowChartPunched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-1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1019700" y="315000"/>
            <a:ext cx="7667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Azure - Cloud [Server Build, Foundation &amp; Automation]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-IaaS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Compute - VMs,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Storage - Storage Accounts, Disk Types,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Network - Vnet, subnet, Gateway,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Database -  Basics..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Security - IAM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IaC - Automation - terraform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Monitoring -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34"/>
          <p:cNvSpPr/>
          <p:nvPr/>
        </p:nvSpPr>
        <p:spPr>
          <a:xfrm>
            <a:off x="7935200" y="4138725"/>
            <a:ext cx="1208800" cy="666050"/>
          </a:xfrm>
          <a:prstGeom prst="flowChartPunched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-1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/>
        </p:nvSpPr>
        <p:spPr>
          <a:xfrm>
            <a:off x="521475" y="302675"/>
            <a:ext cx="7844700" cy="43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IaC - Terraform  [Validation state]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Tools Needed: Download Terraform.exe from Hachicorp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Open Command prompt &amp; create &lt;terraform&gt; folder using file explorer or command prompt using C:\mkdir terraform.. Copy terraform.exe into terraform folder.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Install Azure CLI from Site. - Install msi package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Az Login -&gt; Login with Azure subscription &amp; Connect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&gt; terraform init &amp; verify upgrade…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Create .tf scripts to build the azure resources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/>
        </p:nvSpPr>
        <p:spPr>
          <a:xfrm>
            <a:off x="422775" y="265675"/>
            <a:ext cx="8350500" cy="4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Create any Linux VM [Suse, Redhat, CentOS, ] or use WSL in VM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Linux VM Hardening by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Network Setup, Tools Setup(terraform, az cli, ansible etc.,)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Basic Commands &amp; Advance Commands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Run Terraform scripts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/>
        </p:nvSpPr>
        <p:spPr>
          <a:xfrm>
            <a:off x="437450" y="598825"/>
            <a:ext cx="64704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IaC - Infra as Code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Terraform using script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PowerShell Scripts / Commands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Ansible Script - Pause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CLI - To build the env.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Az CLI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Pre-Req: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connect / configure TF, first connect AZure (CLI must be installed.)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Install AZ CLI (Wind or Linux)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AZ login &amp; validate the login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Download terraform.exe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Terraform init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/>
        </p:nvSpPr>
        <p:spPr>
          <a:xfrm>
            <a:off x="470400" y="357525"/>
            <a:ext cx="8524200" cy="46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Terraform - Starting session 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C:\TF\terraform.exe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.tf ,file extn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main.tf is only one file with all the azure resources to build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Optional .tf files  -&gt; variables.tf &amp; providers.tf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Env Build - Dev, PRD, QA -&gt; Each env needs their own main.tf &amp; others. In a diff folder stru.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Terraform init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Terraform validate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Terraform apply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Key Resources / services to build in terraform are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lphaLcParenR"/>
            </a:pPr>
            <a:r>
              <a:rPr lang="en" sz="1800">
                <a:solidFill>
                  <a:schemeClr val="dk2"/>
                </a:solidFill>
              </a:rPr>
              <a:t>Networking b) Compute / VMs c) Storage d) Security (App GW, Firewalls etc.,)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425" y="118775"/>
            <a:ext cx="737176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/>
        </p:nvSpPr>
        <p:spPr>
          <a:xfrm>
            <a:off x="385775" y="452875"/>
            <a:ext cx="7517700" cy="3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SuSe Linux - Hardening Tips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Install Packages using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1"/>
          <p:cNvSpPr txBox="1"/>
          <p:nvPr/>
        </p:nvSpPr>
        <p:spPr>
          <a:xfrm>
            <a:off x="385775" y="376675"/>
            <a:ext cx="57108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CentOS Linux - Hardening Tips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/>
        </p:nvSpPr>
        <p:spPr>
          <a:xfrm>
            <a:off x="148200" y="111575"/>
            <a:ext cx="8847600" cy="4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Linux - Operating Systems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SuSe</a:t>
            </a:r>
            <a:r>
              <a:rPr lang="en" sz="1900">
                <a:solidFill>
                  <a:schemeClr val="dk2"/>
                </a:solidFill>
              </a:rPr>
              <a:t> -&gt; YaST(yet another setup tool)  #yast –qt, --gtk, -l etc.,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    After normal user -&gt; $sudo -i to # prompt for admin commands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#yast for GUI admin of SuSe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#pip,  </a:t>
            </a:r>
            <a:r>
              <a:rPr b="1" lang="en" sz="1900">
                <a:solidFill>
                  <a:schemeClr val="dk2"/>
                </a:solidFill>
              </a:rPr>
              <a:t>zypper</a:t>
            </a:r>
            <a:r>
              <a:rPr lang="en" sz="1900">
                <a:solidFill>
                  <a:schemeClr val="dk2"/>
                </a:solidFill>
              </a:rPr>
              <a:t> tool to install packages / services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#zypper </a:t>
            </a:r>
            <a:r>
              <a:rPr lang="en" sz="1900">
                <a:solidFill>
                  <a:schemeClr val="dk2"/>
                </a:solidFill>
              </a:rPr>
              <a:t>install</a:t>
            </a:r>
            <a:r>
              <a:rPr lang="en" sz="1900">
                <a:solidFill>
                  <a:schemeClr val="dk2"/>
                </a:solidFill>
              </a:rPr>
              <a:t> tftp / etc.,  #zypper update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#rpm -qa | grep &lt;package name&gt; to find in the installation list.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Ubuntu -&gt; </a:t>
            </a:r>
            <a:endParaRPr b="1"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Cent OS -&gt; </a:t>
            </a:r>
            <a:endParaRPr b="1"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RedHat -&gt; 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100" y="152400"/>
            <a:ext cx="51852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7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 txBox="1"/>
          <p:nvPr/>
        </p:nvSpPr>
        <p:spPr>
          <a:xfrm>
            <a:off x="334300" y="243100"/>
            <a:ext cx="7574700" cy="4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a)Terraform - Complete review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b) Portal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AAD / Entra ID - Subscription-&gt; IAM, Users, Groups, Roles &amp; Prev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Create &amp; manager users Under Entra ID  AAD. 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Complete DB admin - L1 Tasks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Visual Studio Code- Terraform exec using terminal on multiple environments -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Reveiw DevOps - Org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/>
        </p:nvSpPr>
        <p:spPr>
          <a:xfrm>
            <a:off x="719675" y="0"/>
            <a:ext cx="6721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Imp Links: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https://github.com/alfonsof/terraform-azure-examples/tree/master/code/05-cluster-webserver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hlinkClick r:id="rId4"/>
              </a:rPr>
              <a:t>https://github.com/Azure-Terraform/terraform-azurerm-virtual-machine/blob/main/main.tf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hlinkClick r:id="rId5"/>
              </a:rPr>
              <a:t>https://github.com/jakewalsh90/Terraform-Azure/tree/main/Azure-Firewall-DemoLab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hlink"/>
                </a:solidFill>
                <a:hlinkClick r:id="rId6"/>
              </a:rPr>
              <a:t>https://github.com/andreipintica/Azure-Terraform-Scripts/blob/master/main.tf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/>
          <p:nvPr/>
        </p:nvSpPr>
        <p:spPr>
          <a:xfrm>
            <a:off x="438950" y="112550"/>
            <a:ext cx="8272500" cy="3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Tasks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Create new RG, New Vnet, New Subnet (20.0.2.0), VM - Win 11 Pro with Pub IP, Host Name: 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 VMIndia VM - Download &amp; Install Terraform, AZ Cli,Visual Studio (with TF, AzCli and other Extn) - Downloaded files available in Download folder.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Install and config terraform with main.tf file in &gt;Documents folder.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Create sql database from Portal and attach the database in SSMS. Create few tables, insert records to table. Create some queries from Query window.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Visual studio code.. Practfice diff diff terminals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/>
        </p:nvSpPr>
        <p:spPr>
          <a:xfrm>
            <a:off x="438950" y="112550"/>
            <a:ext cx="91440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Tasks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Create new storage account and practice all features. Use google for steps and other misc configuration.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Create firewall and set firewall rules with new Vnet, subnet etc.;  assign the firewall to block the youtube.com or any other sites and map the Firewall to a new Virtual Machine in the new region. - Use google to research and do the hands-on.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Create disks (standard) multiple sizes (10gb 20gb) and allocate the disks to windows VM.  Understand various types of disks (ssd, hdd etc.,) - Understand IOPS, latency etc., from google search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0"/>
          <p:cNvSpPr txBox="1"/>
          <p:nvPr/>
        </p:nvSpPr>
        <p:spPr>
          <a:xfrm>
            <a:off x="273500" y="205125"/>
            <a:ext cx="8744700" cy="47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Ubuntu - Hardening / Installing tools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https://www.digitalocean.com/community/tutorials/how-to-install-and-configure-ansible-on-ubuntu-20-04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#apt install python3-pip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#sudo apt-add-repository ppa:ansible/ansible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#sudo apt update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#sudo apt install ansible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/>
        </p:nvSpPr>
        <p:spPr>
          <a:xfrm>
            <a:off x="438950" y="112550"/>
            <a:ext cx="6666600" cy="3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GIt Notes </a:t>
            </a:r>
            <a:endParaRPr b="1"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Make sure install git on linux VM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Token for spfbang Git User: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$git remote add origin</a:t>
            </a:r>
            <a:r>
              <a:rPr lang="en" sz="19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2"/>
          <p:cNvSpPr txBox="1"/>
          <p:nvPr/>
        </p:nvSpPr>
        <p:spPr>
          <a:xfrm>
            <a:off x="800350" y="364875"/>
            <a:ext cx="82272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Git Notes: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init   | It will create .git folder in the current folder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status [red color]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add . &amp; check status to become green color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commit -m “First Commit”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branch -M main to create main branch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branch - Switch to main branch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config —global user.name “jayasimhagit”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config —global user.email “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jayasimha.xyz@gmail.com</a:t>
            </a:r>
            <a:r>
              <a:rPr lang="en" sz="1300">
                <a:solidFill>
                  <a:schemeClr val="dk2"/>
                </a:solidFill>
              </a:rPr>
              <a:t>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Personal access token -&gt; Git Settings -&gt; Developer settings. -&gt; Personal Token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token -&gt; update..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$ Git push -u origin main  and see the files uploaded in the git repo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F00"/>
                </a:highlight>
              </a:rPr>
              <a:t>$ Git status and see uncommitted code..</a:t>
            </a:r>
            <a:endParaRPr sz="13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F00"/>
                </a:highlight>
              </a:rPr>
              <a:t>$ Git commit -m “2nd commit with new stuff”  file name &lt;main.tf&gt;</a:t>
            </a:r>
            <a:endParaRPr sz="13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F00"/>
                </a:highlight>
              </a:rPr>
              <a:t>$ Git push -u origin main </a:t>
            </a:r>
            <a:endParaRPr sz="13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3"/>
          <p:cNvSpPr txBox="1"/>
          <p:nvPr/>
        </p:nvSpPr>
        <p:spPr>
          <a:xfrm>
            <a:off x="52125" y="35950"/>
            <a:ext cx="9048000" cy="5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</a:rPr>
              <a:t>Git Notes</a:t>
            </a:r>
            <a:endParaRPr sz="13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-To login to linux from command prompt - ssh userlinux@20.151.57.219(ssh username@ip)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to know working directory - pwd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-to create a folder / directory - mkdir name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-to list of files in directory - ls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to create files -&gt; touch main.tf  / vi var.tf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to know version of git -&gt; git - - version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login to git and create a new repository and we can see the basic commands using command prompt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echo "# spfgoa" &gt;&gt; README.md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ls -ltr -&gt; this command gives the access related, user name, file name and other details as below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-rw-rw-r-- 1 userlinux userlinux  0 Aug 17 09:41 main.tf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git init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git add README.md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-to know the status of files details -&gt; git status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to rename the branch name  - git branch -M main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- for the first time got to github - right top corner - settings - developer settings -personalised accesstokens - tokens(classic) - generate new token (new token ) - copy it somewhere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Google Shape;274;p54"/>
          <p:cNvGraphicFramePr/>
          <p:nvPr/>
        </p:nvGraphicFramePr>
        <p:xfrm>
          <a:off x="952500" y="25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{5D4C72BA-5FA5-4682-A077-3C2EAC136C55}</a:tableStyleId>
              </a:tblPr>
              <a:tblGrid>
                <a:gridCol w="3619500"/>
                <a:gridCol w="3619500"/>
              </a:tblGrid>
              <a:tr h="81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Client OS (</a:t>
                      </a:r>
                      <a:r>
                        <a:rPr b="1" lang="en"/>
                        <a:t>Laptop</a:t>
                      </a:r>
                      <a:r>
                        <a:rPr lang="en"/>
                        <a:t> / Desktop / VM at Portal or VM at Lapop in VMware WS) / 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Server OS (Physical Computer / Laptop / VM at Laptop in Vmware WS, Azure Portal or any other Cloud Portal)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r VM in Hyper-V in Server 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2008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11 / 11 Pro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2012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2016 / 2019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Windows 2022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5"/>
          <p:cNvSpPr txBox="1"/>
          <p:nvPr/>
        </p:nvSpPr>
        <p:spPr>
          <a:xfrm>
            <a:off x="318275" y="146075"/>
            <a:ext cx="8350500" cy="47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Server Build  &amp; Hardening for Windows Server OS 2022 </a:t>
            </a:r>
            <a:endParaRPr b="1"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Server Manager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DNS &amp; DHCP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AD DC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Build Domain Controller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Hostname = INBLRDC01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Domain CONTROLLER Name = SPFTEK.COM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Create 2 to 3  users, change permissions to normal user &amp; domain admin, login with other users in domain (eg. Siddhi Pranamya as Domain admin  &amp; Srikar Buddhiraju as Domain user.)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Various server OS - 2019, 2022, 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Various server editions - Standard, Enterprise, Data Center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WAC / WAS - Windows Admin Console or Center.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Build VM - WinPro 11 with Same RG, Vnet, SUbnet (eg. 10.0.x.x)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[Task is build Server VM from Portal and make that server as a domain controller as per above details,  Create another winpro11.. And add this client VM to DC]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6"/>
          <p:cNvSpPr txBox="1"/>
          <p:nvPr/>
        </p:nvSpPr>
        <p:spPr>
          <a:xfrm>
            <a:off x="341875" y="311500"/>
            <a:ext cx="8646000" cy="4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Azure DevOps - CI/CD </a:t>
            </a:r>
            <a:endParaRPr sz="18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Repos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Pipelines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Boards &amp; Artifacts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7"/>
          <p:cNvSpPr txBox="1"/>
          <p:nvPr/>
        </p:nvSpPr>
        <p:spPr>
          <a:xfrm>
            <a:off x="341875" y="311500"/>
            <a:ext cx="8646000" cy="47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Azure Cost Management - &gt; Fin Ops 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Subscription -&gt; Cost Management, Billing etc.,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Cost M anagement + Billing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Free services - Complete understanding of Free Services from Azure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Quotas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Reservations [1Yr, 3Yr, RI, Spot Instances] -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Click-Here</a:t>
            </a:r>
            <a:r>
              <a:rPr lang="en" sz="1600">
                <a:solidFill>
                  <a:schemeClr val="dk2"/>
                </a:solidFill>
              </a:rPr>
              <a:t> For Reservations Notes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Important: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Billing period, INR, Offer, Status on the Subscription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Current and Forecast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Cost Management -&gt; Cost Analysis, Alerts, Budgets, Advisor Recomm with Right sizing, RI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Cost Analysis using RG, Geo, per Resource etc.,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Create Budget Alert &amp; Create Rule with Budget Alert…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Azure Advisor recommendation for FinOps wrt Utilization of Resoruces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8"/>
          <p:cNvSpPr txBox="1"/>
          <p:nvPr/>
        </p:nvSpPr>
        <p:spPr>
          <a:xfrm>
            <a:off x="766675" y="472375"/>
            <a:ext cx="6932100" cy="44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VM Types, Pricing &amp; Models.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https://spot.io/resources/azure-pricing/azure-vm-pricing-vm-types-pricing-models-and-examples/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Cost Optimization &amp; VM Comparison - IaaS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https://www.thomasmaurer.ch/2020/01/how-to-reduce-the-costs-of-your-azure-iaas-vms/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9"/>
          <p:cNvSpPr txBox="1"/>
          <p:nvPr/>
        </p:nvSpPr>
        <p:spPr>
          <a:xfrm>
            <a:off x="84675" y="222250"/>
            <a:ext cx="8953500" cy="44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Azure - Regions, AZs and DCs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https://learn.microsoft.com/en-us/azure/reliability/availability-zones-overview?tabs=azure-cli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0" name="Google Shape;30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847" y="1072125"/>
            <a:ext cx="6838424" cy="40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600" y="89675"/>
            <a:ext cx="5573645" cy="48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Google Shape;310;p61"/>
          <p:cNvGraphicFramePr/>
          <p:nvPr/>
        </p:nvGraphicFramePr>
        <p:xfrm>
          <a:off x="-2" y="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{B6C8BFD7-0F7C-4270-AD7A-5A22B6E2C9C6}</a:tableStyleId>
              </a:tblPr>
              <a:tblGrid>
                <a:gridCol w="1953200"/>
                <a:gridCol w="3611775"/>
                <a:gridCol w="3579025"/>
              </a:tblGrid>
              <a:tr h="36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 Link - Primary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Secondary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DevOps - Repos &amp; Pipelines-1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https://www.youtube.com/watch?v=_Qq3HO5l3ko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https://www.youtube.com/watch?v=Idc6dk_dVbU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Devops - Repos &amp; Pipelines - 2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https://www.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01mrN4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youtube.com/watch?v=4DrOA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Storage - 3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https://www.youtube.com/watch?v=x_7X4Vs1V8w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Networking &amp; FW - 4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https://www.youtube.com/watch?v=_sDbdl2yxx8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 Services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Entra/active directory - 10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https://www.youtube.com/watch?v=MTzURXtXQWY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IAM / AAD - 9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https://www.youtube.com/watch?v=Rz5_oJD0Jso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Cost Management - 11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https://www.youtube.com/watch?v=6S9UdBupFsA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https://www.youtube.com/watch?v=IojgArLK8zM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AppService - 5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6100"/>
                          </a:solidFill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https://www.youtube.com/watch?v=MNN9M11FODI</a:t>
                      </a:r>
                      <a:endParaRPr sz="1100">
                        <a:solidFill>
                          <a:srgbClr val="0061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6100"/>
                          </a:solidFill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https://www.youtube.com/watch?v=x6JXqDKRjos</a:t>
                      </a:r>
                      <a:endParaRPr sz="1100">
                        <a:solidFill>
                          <a:srgbClr val="0061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 - Functions = 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Git/Git Hub / Azure Repos - 7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https://www.youtube.com/watch?v=yqHbuzt0FhY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https://www.youtube.com/watch?v=rRwLB7sEP1o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Vnet &amp; VPN Gw - 12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https://www.youtube.com/watch?v=1ltK_3pahuE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hlinkClick r:id="rId19"/>
                        </a:rPr>
                        <a:t>https://learn.microsoft.com/en-us/azure/azure-resource-manager/bicep/overview?tabs=bicep</a:t>
                      </a:r>
                      <a:endParaRPr sz="1100"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DevOps - Terraform pipeline - 8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https://www.youtube.com/watch?v=wq_sn9ey4KM</a:t>
                      </a:r>
                      <a:endParaRPr sz="11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61"/>
          <p:cNvSpPr txBox="1"/>
          <p:nvPr/>
        </p:nvSpPr>
        <p:spPr>
          <a:xfrm flipH="1" rot="10800000">
            <a:off x="5564975" y="2995875"/>
            <a:ext cx="402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25424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224" y="152400"/>
            <a:ext cx="370720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96534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334" y="152400"/>
            <a:ext cx="41118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7230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102" y="152400"/>
            <a:ext cx="387230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0" y="40750"/>
            <a:ext cx="4083611" cy="510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050" y="152400"/>
            <a:ext cx="3994288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525" y="208650"/>
            <a:ext cx="597848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